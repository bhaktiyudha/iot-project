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Economica"/>
      <p:regular r:id="rId19"/>
      <p:bold r:id="rId20"/>
      <p:italic r:id="rId21"/>
      <p:boldItalic r:id="rId22"/>
    </p:embeddedFont>
    <p:embeddedFont>
      <p:font typeface="Montserrat"/>
      <p:regular r:id="rId23"/>
      <p:bold r:id="rId24"/>
      <p:italic r:id="rId25"/>
      <p:boldItalic r:id="rId26"/>
    </p:embeddedFont>
    <p:embeddedFont>
      <p:font typeface="Open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8AF2BD-44C1-466E-A864-9B6824D000DC}">
  <a:tblStyle styleId="{AB8AF2BD-44C1-466E-A864-9B6824D000D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Economica-bold.fntdata"/><Relationship Id="rId22" Type="http://schemas.openxmlformats.org/officeDocument/2006/relationships/font" Target="fonts/Economica-boldItalic.fntdata"/><Relationship Id="rId21" Type="http://schemas.openxmlformats.org/officeDocument/2006/relationships/font" Target="fonts/Economica-italic.fntdata"/><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OpenSans-bold.fntdata"/><Relationship Id="rId27" Type="http://schemas.openxmlformats.org/officeDocument/2006/relationships/font" Target="fonts/OpenSans-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OpenSans-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Open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Economica-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1ab5a5f98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1ab5a5f98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39f252da7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39f252da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39f252da7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39f252da7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3af8af0a1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3af8af0a1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34017e1c3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34017e1c3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257b5f849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257b5f849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SSH, atau Secure Shell Protocol, adalah protokol administrasi jarak jauh yang memungkinkan pengguna untuk mengakses, mengontrol, dan memodifikasi server jarak jauh mereka melalui internet.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Layanan SSH dibuat sebagai pengganti aman untuk Telnet yang tidak terenkripsi dan menggunakan teknik kriptografi untuk memastikan bahwa semua komunikasi ke dan dari server jarak jauh terjadi dengan cara terenkripsi. Ini menyediakan mekanisme untuk mengautentikasi pengguna jarak jauh, mentransfer input dari klien ke host, dan menyampaikan output kembali ke klien.</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34017e1c3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34017e1c3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51054fca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51054fca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25000"/>
              </a:lnSpc>
              <a:spcBef>
                <a:spcPts val="1800"/>
              </a:spcBef>
              <a:spcAft>
                <a:spcPts val="0"/>
              </a:spcAft>
              <a:buClr>
                <a:schemeClr val="dk1"/>
              </a:buClr>
              <a:buSzPts val="1100"/>
              <a:buFont typeface="Arial"/>
              <a:buNone/>
            </a:pPr>
            <a:r>
              <a:rPr b="1" lang="en-GB" sz="1550">
                <a:solidFill>
                  <a:srgbClr val="333333"/>
                </a:solidFill>
                <a:highlight>
                  <a:srgbClr val="FFFFFF"/>
                </a:highlight>
                <a:latin typeface="Montserrat"/>
                <a:ea typeface="Montserrat"/>
                <a:cs typeface="Montserrat"/>
                <a:sym typeface="Montserrat"/>
              </a:rPr>
              <a:t>Sensor Aktif</a:t>
            </a:r>
            <a:endParaRPr b="1" sz="1550">
              <a:solidFill>
                <a:srgbClr val="333333"/>
              </a:solidFill>
              <a:highlight>
                <a:srgbClr val="FFFFFF"/>
              </a:highlight>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lang="en-GB">
                <a:solidFill>
                  <a:srgbClr val="333333"/>
                </a:solidFill>
                <a:highlight>
                  <a:srgbClr val="FFFFFF"/>
                </a:highlight>
                <a:latin typeface="Montserrat"/>
                <a:ea typeface="Montserrat"/>
                <a:cs typeface="Montserrat"/>
                <a:sym typeface="Montserrat"/>
              </a:rPr>
              <a:t>Memerlukan sumber daya eksternal untuk beroperasi, yang disebut sinyal eksitasi. Sinyal tersebut dimodulasi oleh sensor untuk menghasilkan </a:t>
            </a:r>
            <a:r>
              <a:rPr i="1" lang="en-GB">
                <a:solidFill>
                  <a:srgbClr val="333333"/>
                </a:solidFill>
                <a:highlight>
                  <a:srgbClr val="FFFFFF"/>
                </a:highlight>
                <a:latin typeface="Montserrat"/>
                <a:ea typeface="Montserrat"/>
                <a:cs typeface="Montserrat"/>
                <a:sym typeface="Montserrat"/>
              </a:rPr>
              <a:t>output signal</a:t>
            </a:r>
            <a:r>
              <a:rPr lang="en-GB">
                <a:solidFill>
                  <a:srgbClr val="333333"/>
                </a:solidFill>
                <a:highlight>
                  <a:srgbClr val="FFFFFF"/>
                </a:highlight>
                <a:latin typeface="Montserrat"/>
                <a:ea typeface="Montserrat"/>
                <a:cs typeface="Montserrat"/>
                <a:sym typeface="Montserrat"/>
              </a:rPr>
              <a:t>. Misalnya, termistor tidak menghasilkan sinyal listrik apa pun, tetapi dengan melewatkan arus listrik melaluinya, resistansinya dapat diukur dengan mendeteksi variasi arus atau tegangan melintasi termistor.</a:t>
            </a:r>
            <a:endParaRPr>
              <a:solidFill>
                <a:srgbClr val="333333"/>
              </a:solidFill>
              <a:highlight>
                <a:srgbClr val="FFFFFF"/>
              </a:highlight>
              <a:latin typeface="Montserrat"/>
              <a:ea typeface="Montserrat"/>
              <a:cs typeface="Montserrat"/>
              <a:sym typeface="Montserrat"/>
            </a:endParaRPr>
          </a:p>
          <a:p>
            <a:pPr indent="0" lvl="0" marL="0" rtl="0" algn="l">
              <a:lnSpc>
                <a:spcPct val="125000"/>
              </a:lnSpc>
              <a:spcBef>
                <a:spcPts val="1800"/>
              </a:spcBef>
              <a:spcAft>
                <a:spcPts val="0"/>
              </a:spcAft>
              <a:buClr>
                <a:schemeClr val="dk1"/>
              </a:buClr>
              <a:buSzPts val="1100"/>
              <a:buFont typeface="Arial"/>
              <a:buNone/>
            </a:pPr>
            <a:r>
              <a:rPr b="1" lang="en-GB" sz="1550">
                <a:solidFill>
                  <a:srgbClr val="333333"/>
                </a:solidFill>
                <a:highlight>
                  <a:srgbClr val="FFFFFF"/>
                </a:highlight>
                <a:latin typeface="Montserrat"/>
                <a:ea typeface="Montserrat"/>
                <a:cs typeface="Montserrat"/>
                <a:sym typeface="Montserrat"/>
              </a:rPr>
              <a:t>Sensor Pasif</a:t>
            </a:r>
            <a:endParaRPr b="1" sz="1550">
              <a:solidFill>
                <a:srgbClr val="333333"/>
              </a:solidFill>
              <a:highlight>
                <a:srgbClr val="FFFFFF"/>
              </a:highlight>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lang="en-GB">
                <a:solidFill>
                  <a:srgbClr val="333333"/>
                </a:solidFill>
                <a:highlight>
                  <a:srgbClr val="FFFFFF"/>
                </a:highlight>
                <a:latin typeface="Montserrat"/>
                <a:ea typeface="Montserrat"/>
                <a:cs typeface="Montserrat"/>
                <a:sym typeface="Montserrat"/>
              </a:rPr>
              <a:t>Sebaliknya, sensor pasif menghasilkan arus listrik sebagai respons terhadap stimulus eksternal yang berfungsi sebagai </a:t>
            </a:r>
            <a:r>
              <a:rPr i="1" lang="en-GB">
                <a:solidFill>
                  <a:srgbClr val="333333"/>
                </a:solidFill>
                <a:highlight>
                  <a:srgbClr val="FFFFFF"/>
                </a:highlight>
                <a:latin typeface="Montserrat"/>
                <a:ea typeface="Montserrat"/>
                <a:cs typeface="Montserrat"/>
                <a:sym typeface="Montserrat"/>
              </a:rPr>
              <a:t>output signal</a:t>
            </a:r>
            <a:r>
              <a:rPr lang="en-GB">
                <a:solidFill>
                  <a:srgbClr val="333333"/>
                </a:solidFill>
                <a:highlight>
                  <a:srgbClr val="FFFFFF"/>
                </a:highlight>
                <a:latin typeface="Montserrat"/>
                <a:ea typeface="Montserrat"/>
                <a:cs typeface="Montserrat"/>
                <a:sym typeface="Montserrat"/>
              </a:rPr>
              <a:t> tanpa memerlukan sumber energi tambahan. Contohnya </a:t>
            </a:r>
            <a:r>
              <a:rPr i="1" lang="en-GB">
                <a:solidFill>
                  <a:srgbClr val="333333"/>
                </a:solidFill>
                <a:highlight>
                  <a:srgbClr val="FFFFFF"/>
                </a:highlight>
                <a:latin typeface="Montserrat"/>
                <a:ea typeface="Montserrat"/>
                <a:cs typeface="Montserrat"/>
                <a:sym typeface="Montserrat"/>
              </a:rPr>
              <a:t>photodiode</a:t>
            </a:r>
            <a:r>
              <a:rPr lang="en-GB">
                <a:solidFill>
                  <a:srgbClr val="333333"/>
                </a:solidFill>
                <a:highlight>
                  <a:srgbClr val="FFFFFF"/>
                </a:highlight>
                <a:latin typeface="Montserrat"/>
                <a:ea typeface="Montserrat"/>
                <a:cs typeface="Montserrat"/>
                <a:sym typeface="Montserrat"/>
              </a:rPr>
              <a:t>, </a:t>
            </a:r>
            <a:r>
              <a:rPr i="1" lang="en-GB">
                <a:solidFill>
                  <a:srgbClr val="333333"/>
                </a:solidFill>
                <a:highlight>
                  <a:srgbClr val="FFFFFF"/>
                </a:highlight>
                <a:latin typeface="Montserrat"/>
                <a:ea typeface="Montserrat"/>
                <a:cs typeface="Montserrat"/>
                <a:sym typeface="Montserrat"/>
              </a:rPr>
              <a:t>piezoelectric sensor</a:t>
            </a:r>
            <a:r>
              <a:rPr lang="en-GB">
                <a:solidFill>
                  <a:srgbClr val="333333"/>
                </a:solidFill>
                <a:highlight>
                  <a:srgbClr val="FFFFFF"/>
                </a:highlight>
                <a:latin typeface="Montserrat"/>
                <a:ea typeface="Montserrat"/>
                <a:cs typeface="Montserrat"/>
                <a:sym typeface="Montserrat"/>
              </a:rPr>
              <a:t>, dan </a:t>
            </a:r>
            <a:r>
              <a:rPr i="1" lang="en-GB">
                <a:solidFill>
                  <a:srgbClr val="333333"/>
                </a:solidFill>
                <a:highlight>
                  <a:srgbClr val="FFFFFF"/>
                </a:highlight>
                <a:latin typeface="Montserrat"/>
                <a:ea typeface="Montserrat"/>
                <a:cs typeface="Montserrat"/>
                <a:sym typeface="Montserrat"/>
              </a:rPr>
              <a:t>thermocouple</a:t>
            </a:r>
            <a:r>
              <a:rPr lang="en-GB">
                <a:solidFill>
                  <a:srgbClr val="333333"/>
                </a:solidFill>
                <a:highlight>
                  <a:srgbClr val="FFFFFF"/>
                </a:highlight>
                <a:latin typeface="Montserrat"/>
                <a:ea typeface="Montserrat"/>
                <a:cs typeface="Montserrat"/>
                <a:sym typeface="Montserrat"/>
              </a:rPr>
              <a:t>.</a:t>
            </a:r>
            <a:endParaRPr>
              <a:solidFill>
                <a:srgbClr val="333333"/>
              </a:solidFill>
              <a:highlight>
                <a:srgbClr val="FFFFFF"/>
              </a:highlight>
              <a:latin typeface="Montserrat"/>
              <a:ea typeface="Montserrat"/>
              <a:cs typeface="Montserrat"/>
              <a:sym typeface="Montserrat"/>
            </a:endParaRPr>
          </a:p>
          <a:p>
            <a:pPr indent="0" lvl="0" marL="0" rtl="0" algn="l">
              <a:lnSpc>
                <a:spcPct val="125000"/>
              </a:lnSpc>
              <a:spcBef>
                <a:spcPts val="1800"/>
              </a:spcBef>
              <a:spcAft>
                <a:spcPts val="0"/>
              </a:spcAft>
              <a:buClr>
                <a:schemeClr val="dk1"/>
              </a:buClr>
              <a:buSzPts val="1100"/>
              <a:buFont typeface="Arial"/>
              <a:buNone/>
            </a:pPr>
            <a:r>
              <a:rPr b="1" i="1" lang="en-GB" sz="1550">
                <a:solidFill>
                  <a:srgbClr val="333333"/>
                </a:solidFill>
                <a:highlight>
                  <a:srgbClr val="FFFFFF"/>
                </a:highlight>
                <a:latin typeface="Montserrat"/>
                <a:ea typeface="Montserrat"/>
                <a:cs typeface="Montserrat"/>
                <a:sym typeface="Montserrat"/>
              </a:rPr>
              <a:t>Analog Sensors</a:t>
            </a:r>
            <a:endParaRPr b="1" i="1" sz="1550">
              <a:solidFill>
                <a:srgbClr val="333333"/>
              </a:solidFill>
              <a:highlight>
                <a:srgbClr val="FFFFFF"/>
              </a:highlight>
              <a:latin typeface="Montserrat"/>
              <a:ea typeface="Montserrat"/>
              <a:cs typeface="Montserrat"/>
              <a:sym typeface="Montserrat"/>
            </a:endParaRPr>
          </a:p>
          <a:p>
            <a:pPr indent="-298450" lvl="0" marL="457200" rtl="0" algn="l">
              <a:lnSpc>
                <a:spcPct val="115000"/>
              </a:lnSpc>
              <a:spcBef>
                <a:spcPts val="1200"/>
              </a:spcBef>
              <a:spcAft>
                <a:spcPts val="0"/>
              </a:spcAft>
              <a:buClr>
                <a:srgbClr val="333333"/>
              </a:buClr>
              <a:buSzPts val="1100"/>
              <a:buFont typeface="Montserrat"/>
              <a:buAutoNum type="arabicPeriod"/>
            </a:pPr>
            <a:r>
              <a:rPr lang="en-GB">
                <a:solidFill>
                  <a:srgbClr val="333333"/>
                </a:solidFill>
                <a:highlight>
                  <a:srgbClr val="FFFFFF"/>
                </a:highlight>
                <a:latin typeface="Montserrat"/>
                <a:ea typeface="Montserrat"/>
                <a:cs typeface="Montserrat"/>
                <a:sym typeface="Montserrat"/>
              </a:rPr>
              <a:t>Sinyal analog dengan perubahan terus menerus dalam output sensor</a:t>
            </a:r>
            <a:endParaRPr>
              <a:solidFill>
                <a:srgbClr val="333333"/>
              </a:solidFill>
              <a:highlight>
                <a:srgbClr val="FFFFFF"/>
              </a:highlight>
              <a:latin typeface="Montserrat"/>
              <a:ea typeface="Montserrat"/>
              <a:cs typeface="Montserrat"/>
              <a:sym typeface="Montserrat"/>
            </a:endParaRPr>
          </a:p>
          <a:p>
            <a:pPr indent="-298450" lvl="0" marL="457200" rtl="0" algn="l">
              <a:lnSpc>
                <a:spcPct val="115000"/>
              </a:lnSpc>
              <a:spcBef>
                <a:spcPts val="0"/>
              </a:spcBef>
              <a:spcAft>
                <a:spcPts val="0"/>
              </a:spcAft>
              <a:buClr>
                <a:srgbClr val="333333"/>
              </a:buClr>
              <a:buSzPts val="1100"/>
              <a:buFont typeface="Montserrat"/>
              <a:buAutoNum type="arabicPeriod"/>
            </a:pPr>
            <a:r>
              <a:rPr lang="en-GB">
                <a:solidFill>
                  <a:srgbClr val="333333"/>
                </a:solidFill>
                <a:highlight>
                  <a:srgbClr val="FFFFFF"/>
                </a:highlight>
                <a:latin typeface="Montserrat"/>
                <a:ea typeface="Montserrat"/>
                <a:cs typeface="Montserrat"/>
                <a:sym typeface="Montserrat"/>
              </a:rPr>
              <a:t>Informasi diperoleh dari amplitudo </a:t>
            </a:r>
            <a:r>
              <a:rPr i="1" lang="en-GB">
                <a:solidFill>
                  <a:srgbClr val="333333"/>
                </a:solidFill>
                <a:highlight>
                  <a:srgbClr val="FFFFFF"/>
                </a:highlight>
                <a:latin typeface="Montserrat"/>
                <a:ea typeface="Montserrat"/>
                <a:cs typeface="Montserrat"/>
                <a:sym typeface="Montserrat"/>
              </a:rPr>
              <a:t>output signal</a:t>
            </a:r>
            <a:r>
              <a:rPr lang="en-GB">
                <a:solidFill>
                  <a:srgbClr val="333333"/>
                </a:solidFill>
                <a:highlight>
                  <a:srgbClr val="FFFFFF"/>
                </a:highlight>
                <a:latin typeface="Montserrat"/>
                <a:ea typeface="Montserrat"/>
                <a:cs typeface="Montserrat"/>
                <a:sym typeface="Montserrat"/>
              </a:rPr>
              <a:t>.</a:t>
            </a:r>
            <a:endParaRPr>
              <a:solidFill>
                <a:srgbClr val="333333"/>
              </a:solidFill>
              <a:highlight>
                <a:srgbClr val="FFFFFF"/>
              </a:highlight>
              <a:latin typeface="Montserrat"/>
              <a:ea typeface="Montserrat"/>
              <a:cs typeface="Montserrat"/>
              <a:sym typeface="Montserrat"/>
            </a:endParaRPr>
          </a:p>
          <a:p>
            <a:pPr indent="-298450" lvl="0" marL="457200" rtl="0" algn="l">
              <a:lnSpc>
                <a:spcPct val="115000"/>
              </a:lnSpc>
              <a:spcBef>
                <a:spcPts val="0"/>
              </a:spcBef>
              <a:spcAft>
                <a:spcPts val="0"/>
              </a:spcAft>
              <a:buClr>
                <a:srgbClr val="333333"/>
              </a:buClr>
              <a:buSzPts val="1100"/>
              <a:buFont typeface="Montserrat"/>
              <a:buAutoNum type="arabicPeriod"/>
            </a:pPr>
            <a:r>
              <a:rPr lang="en-GB">
                <a:solidFill>
                  <a:srgbClr val="333333"/>
                </a:solidFill>
                <a:highlight>
                  <a:srgbClr val="FFFFFF"/>
                </a:highlight>
                <a:latin typeface="Montserrat"/>
                <a:ea typeface="Montserrat"/>
                <a:cs typeface="Montserrat"/>
                <a:sym typeface="Montserrat"/>
              </a:rPr>
              <a:t>Kebanyakan sensor adalah sensor analog.</a:t>
            </a:r>
            <a:endParaRPr>
              <a:solidFill>
                <a:srgbClr val="333333"/>
              </a:solidFill>
              <a:highlight>
                <a:srgbClr val="FFFFFF"/>
              </a:highlight>
              <a:latin typeface="Montserrat"/>
              <a:ea typeface="Montserrat"/>
              <a:cs typeface="Montserrat"/>
              <a:sym typeface="Montserrat"/>
            </a:endParaRPr>
          </a:p>
          <a:p>
            <a:pPr indent="0" lvl="0" marL="0" rtl="0" algn="l">
              <a:lnSpc>
                <a:spcPct val="125000"/>
              </a:lnSpc>
              <a:spcBef>
                <a:spcPts val="1800"/>
              </a:spcBef>
              <a:spcAft>
                <a:spcPts val="0"/>
              </a:spcAft>
              <a:buClr>
                <a:schemeClr val="dk1"/>
              </a:buClr>
              <a:buSzPts val="1100"/>
              <a:buFont typeface="Arial"/>
              <a:buNone/>
            </a:pPr>
            <a:r>
              <a:rPr b="1" i="1" lang="en-GB" sz="1550">
                <a:solidFill>
                  <a:srgbClr val="333333"/>
                </a:solidFill>
                <a:highlight>
                  <a:srgbClr val="FFFFFF"/>
                </a:highlight>
                <a:latin typeface="Montserrat"/>
                <a:ea typeface="Montserrat"/>
                <a:cs typeface="Montserrat"/>
                <a:sym typeface="Montserrat"/>
              </a:rPr>
              <a:t>Digital Sensors</a:t>
            </a:r>
            <a:endParaRPr b="1" i="1" sz="1550">
              <a:solidFill>
                <a:srgbClr val="333333"/>
              </a:solidFill>
              <a:highlight>
                <a:srgbClr val="FFFFFF"/>
              </a:highlight>
              <a:latin typeface="Montserrat"/>
              <a:ea typeface="Montserrat"/>
              <a:cs typeface="Montserrat"/>
              <a:sym typeface="Montserrat"/>
            </a:endParaRPr>
          </a:p>
          <a:p>
            <a:pPr indent="-298450" lvl="0" marL="457200" rtl="0" algn="l">
              <a:lnSpc>
                <a:spcPct val="115000"/>
              </a:lnSpc>
              <a:spcBef>
                <a:spcPts val="1200"/>
              </a:spcBef>
              <a:spcAft>
                <a:spcPts val="0"/>
              </a:spcAft>
              <a:buClr>
                <a:srgbClr val="333333"/>
              </a:buClr>
              <a:buSzPts val="1100"/>
              <a:buFont typeface="Montserrat"/>
              <a:buAutoNum type="arabicPeriod"/>
            </a:pPr>
            <a:r>
              <a:rPr i="1" lang="en-GB">
                <a:solidFill>
                  <a:srgbClr val="333333"/>
                </a:solidFill>
                <a:highlight>
                  <a:srgbClr val="FFFFFF"/>
                </a:highlight>
                <a:latin typeface="Montserrat"/>
                <a:ea typeface="Montserrat"/>
                <a:cs typeface="Montserrat"/>
                <a:sym typeface="Montserrat"/>
              </a:rPr>
              <a:t>Output</a:t>
            </a:r>
            <a:r>
              <a:rPr lang="en-GB">
                <a:solidFill>
                  <a:srgbClr val="333333"/>
                </a:solidFill>
                <a:highlight>
                  <a:srgbClr val="FFFFFF"/>
                </a:highlight>
                <a:latin typeface="Montserrat"/>
                <a:ea typeface="Montserrat"/>
                <a:cs typeface="Montserrat"/>
                <a:sym typeface="Montserrat"/>
              </a:rPr>
              <a:t> sensor digital berupa sinyal digital.</a:t>
            </a:r>
            <a:endParaRPr>
              <a:solidFill>
                <a:srgbClr val="333333"/>
              </a:solidFill>
              <a:highlight>
                <a:srgbClr val="FFFFFF"/>
              </a:highlight>
              <a:latin typeface="Montserrat"/>
              <a:ea typeface="Montserrat"/>
              <a:cs typeface="Montserrat"/>
              <a:sym typeface="Montserrat"/>
            </a:endParaRPr>
          </a:p>
          <a:p>
            <a:pPr indent="-298450" lvl="0" marL="457200" rtl="0" algn="l">
              <a:lnSpc>
                <a:spcPct val="115000"/>
              </a:lnSpc>
              <a:spcBef>
                <a:spcPts val="0"/>
              </a:spcBef>
              <a:spcAft>
                <a:spcPts val="0"/>
              </a:spcAft>
              <a:buClr>
                <a:srgbClr val="333333"/>
              </a:buClr>
              <a:buSzPts val="1100"/>
              <a:buFont typeface="Montserrat"/>
              <a:buAutoNum type="arabicPeriod"/>
            </a:pPr>
            <a:r>
              <a:rPr lang="en-GB">
                <a:solidFill>
                  <a:srgbClr val="333333"/>
                </a:solidFill>
                <a:highlight>
                  <a:srgbClr val="FFFFFF"/>
                </a:highlight>
                <a:latin typeface="Montserrat"/>
                <a:ea typeface="Montserrat"/>
                <a:cs typeface="Montserrat"/>
                <a:sym typeface="Montserrat"/>
              </a:rPr>
              <a:t>Sinyal digital seringkali lebih mudah ditransmisikan, dapat direproduksi dengan lebih baik, lebih dapat diandalkan, dan lebih akurat daripada sinyal analog.</a:t>
            </a:r>
            <a:endParaRPr>
              <a:solidFill>
                <a:srgbClr val="333333"/>
              </a:solidFill>
              <a:highlight>
                <a:srgbClr val="FFFFFF"/>
              </a:highlight>
              <a:latin typeface="Montserrat"/>
              <a:ea typeface="Montserrat"/>
              <a:cs typeface="Montserrat"/>
              <a:sym typeface="Montserrat"/>
            </a:endParaRPr>
          </a:p>
          <a:p>
            <a:pPr indent="-298450" lvl="0" marL="457200" rtl="0" algn="l">
              <a:lnSpc>
                <a:spcPct val="115000"/>
              </a:lnSpc>
              <a:spcBef>
                <a:spcPts val="0"/>
              </a:spcBef>
              <a:spcAft>
                <a:spcPts val="0"/>
              </a:spcAft>
              <a:buClr>
                <a:srgbClr val="333333"/>
              </a:buClr>
              <a:buSzPts val="1100"/>
              <a:buFont typeface="Montserrat"/>
              <a:buAutoNum type="arabicPeriod"/>
            </a:pPr>
            <a:r>
              <a:rPr i="1" lang="en-GB">
                <a:solidFill>
                  <a:srgbClr val="333333"/>
                </a:solidFill>
                <a:highlight>
                  <a:srgbClr val="FFFFFF"/>
                </a:highlight>
                <a:latin typeface="Montserrat"/>
                <a:ea typeface="Montserrat"/>
                <a:cs typeface="Montserrat"/>
                <a:sym typeface="Montserrat"/>
              </a:rPr>
              <a:t>Output</a:t>
            </a:r>
            <a:r>
              <a:rPr lang="en-GB">
                <a:solidFill>
                  <a:srgbClr val="333333"/>
                </a:solidFill>
                <a:highlight>
                  <a:srgbClr val="FFFFFF"/>
                </a:highlight>
                <a:latin typeface="Montserrat"/>
                <a:ea typeface="Montserrat"/>
                <a:cs typeface="Montserrat"/>
                <a:sym typeface="Montserrat"/>
              </a:rPr>
              <a:t> dari elemen sensor yang berupa sinyal digital bukanlah hal yang umum. Sebuah sinyal perlu dikombinasikan dengan konverter analog ke digital untuk menghasilkan keluaran sinyal digital.</a:t>
            </a:r>
            <a:endParaRPr>
              <a:solidFill>
                <a:srgbClr val="333333"/>
              </a:solidFill>
              <a:highlight>
                <a:srgbClr val="FFFFFF"/>
              </a:highlight>
              <a:latin typeface="Montserrat"/>
              <a:ea typeface="Montserrat"/>
              <a:cs typeface="Montserrat"/>
              <a:sym typeface="Montserrat"/>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51054fca2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51054fca2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solidFill>
                  <a:srgbClr val="333333"/>
                </a:solidFill>
                <a:highlight>
                  <a:srgbClr val="FFFFFF"/>
                </a:highlight>
                <a:latin typeface="Montserrat"/>
                <a:ea typeface="Montserrat"/>
                <a:cs typeface="Montserrat"/>
                <a:sym typeface="Montserrat"/>
              </a:rPr>
              <a:t>Transducer</a:t>
            </a:r>
            <a:r>
              <a:rPr lang="en-GB">
                <a:solidFill>
                  <a:srgbClr val="333333"/>
                </a:solidFill>
                <a:highlight>
                  <a:srgbClr val="FFFFFF"/>
                </a:highlight>
                <a:latin typeface="Montserrat"/>
                <a:ea typeface="Montserrat"/>
                <a:cs typeface="Montserrat"/>
                <a:sym typeface="Montserrat"/>
              </a:rPr>
              <a:t> adalah istilah yang digunakan untuk menggambarkan perangkat yang mengubah bentuk energi (sinyal) menjadi bentuk energi lain (sinyal)</a:t>
            </a:r>
            <a:endParaRPr>
              <a:solidFill>
                <a:srgbClr val="333333"/>
              </a:solidFill>
              <a:highlight>
                <a:srgbClr val="FFFFFF"/>
              </a:highlight>
              <a:latin typeface="Montserrat"/>
              <a:ea typeface="Montserrat"/>
              <a:cs typeface="Montserrat"/>
              <a:sym typeface="Montserrat"/>
            </a:endParaRPr>
          </a:p>
          <a:p>
            <a:pPr indent="0" lvl="0" marL="0" rtl="0" algn="l">
              <a:spcBef>
                <a:spcPts val="0"/>
              </a:spcBef>
              <a:spcAft>
                <a:spcPts val="0"/>
              </a:spcAft>
              <a:buNone/>
            </a:pPr>
            <a:r>
              <a:t/>
            </a:r>
            <a:endParaRPr>
              <a:solidFill>
                <a:srgbClr val="333333"/>
              </a:solidFill>
              <a:highlight>
                <a:srgbClr val="FFFFFF"/>
              </a:highlight>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GB" sz="1050">
                <a:solidFill>
                  <a:srgbClr val="4A4A4A"/>
                </a:solidFill>
                <a:highlight>
                  <a:srgbClr val="FFFFFF"/>
                </a:highlight>
              </a:rPr>
              <a:t>A sensor detects a physical, chemical or biological quantity and converts the data it receives through this detection into an electrical signal. A transducer is a more general device for converting energy from a given form into a different form. So, a sensor is a specific type of transducer that turns one form — physical, chemical or biological — into a specific different form (electronic data).</a:t>
            </a:r>
            <a:endParaRPr sz="1050">
              <a:solidFill>
                <a:srgbClr val="4A4A4A"/>
              </a:solidFill>
              <a:highlight>
                <a:srgbClr val="FFFFFF"/>
              </a:highlight>
            </a:endParaRPr>
          </a:p>
          <a:p>
            <a:pPr indent="0" lvl="0" marL="0" rtl="0" algn="l">
              <a:lnSpc>
                <a:spcPct val="115000"/>
              </a:lnSpc>
              <a:spcBef>
                <a:spcPts val="1800"/>
              </a:spcBef>
              <a:spcAft>
                <a:spcPts val="0"/>
              </a:spcAft>
              <a:buClr>
                <a:schemeClr val="dk1"/>
              </a:buClr>
              <a:buSzPts val="1100"/>
              <a:buFont typeface="Arial"/>
              <a:buNone/>
            </a:pPr>
            <a:r>
              <a:rPr lang="en-GB" sz="1050">
                <a:solidFill>
                  <a:srgbClr val="4A4A4A"/>
                </a:solidFill>
                <a:highlight>
                  <a:srgbClr val="FFFFFF"/>
                </a:highlight>
              </a:rPr>
              <a:t>A transducer may contain such a sensor and use it to obtain data, which it then translates into readable, meaningful information. A sensor is more of a detector, while a transducer is more of a translator.</a:t>
            </a:r>
            <a:endParaRPr sz="1050">
              <a:solidFill>
                <a:srgbClr val="4A4A4A"/>
              </a:solidFill>
              <a:highlight>
                <a:srgbClr val="FFFFFF"/>
              </a:highlight>
            </a:endParaRPr>
          </a:p>
          <a:p>
            <a:pPr indent="0" lvl="0" marL="0" rtl="0" algn="l">
              <a:spcBef>
                <a:spcPts val="1800"/>
              </a:spcBef>
              <a:spcAft>
                <a:spcPts val="0"/>
              </a:spcAft>
              <a:buNone/>
            </a:pPr>
            <a:r>
              <a:t/>
            </a:r>
            <a:endParaRPr>
              <a:solidFill>
                <a:srgbClr val="333333"/>
              </a:solidFill>
              <a:highlight>
                <a:srgbClr val="FFFFFF"/>
              </a:highlight>
              <a:latin typeface="Montserrat"/>
              <a:ea typeface="Montserrat"/>
              <a:cs typeface="Montserrat"/>
              <a:sym typeface="Montserrat"/>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34017e1c3f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34017e1c3f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358c66c8a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358c66c8a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www.youtube.com/watch?v=ahhb5EjHleY" TargetMode="External"/><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www.youtube.com/watch?v=4oUQJG4O94o" TargetMode="External"/><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www.youtube.com/watch?v=eZ74x6dVYes" TargetMode="Externa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Week 5 - Hardware of IoT</a:t>
            </a:r>
            <a:endParaRPr/>
          </a:p>
        </p:txBody>
      </p:sp>
      <p:sp>
        <p:nvSpPr>
          <p:cNvPr id="63" name="Google Shape;63;p13"/>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Sensors + Raspberry Pi Hands 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What will we learn?</a:t>
            </a:r>
            <a:endParaRPr/>
          </a:p>
        </p:txBody>
      </p:sp>
      <p:sp>
        <p:nvSpPr>
          <p:cNvPr id="69" name="Google Shape;69;p1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GB"/>
              <a:t>Setup Raspberry Pi</a:t>
            </a:r>
            <a:endParaRPr/>
          </a:p>
          <a:p>
            <a:pPr indent="-342900" lvl="0" marL="457200" rtl="0" algn="l">
              <a:spcBef>
                <a:spcPts val="0"/>
              </a:spcBef>
              <a:spcAft>
                <a:spcPts val="0"/>
              </a:spcAft>
              <a:buSzPts val="1800"/>
              <a:buAutoNum type="arabicPeriod"/>
            </a:pPr>
            <a:r>
              <a:rPr lang="en-GB"/>
              <a:t>SSH with Raspberry Pi ( Putty ) + VNC</a:t>
            </a:r>
            <a:endParaRPr/>
          </a:p>
          <a:p>
            <a:pPr indent="-342900" lvl="0" marL="457200" rtl="0" algn="l">
              <a:spcBef>
                <a:spcPts val="0"/>
              </a:spcBef>
              <a:spcAft>
                <a:spcPts val="0"/>
              </a:spcAft>
              <a:buSzPts val="1800"/>
              <a:buAutoNum type="arabicPeriod"/>
            </a:pPr>
            <a:r>
              <a:rPr lang="en-GB"/>
              <a:t>Wiring Diagram with Fritzing</a:t>
            </a:r>
            <a:endParaRPr/>
          </a:p>
          <a:p>
            <a:pPr indent="-342900" lvl="0" marL="457200" rtl="0" algn="l">
              <a:spcBef>
                <a:spcPts val="0"/>
              </a:spcBef>
              <a:spcAft>
                <a:spcPts val="0"/>
              </a:spcAft>
              <a:buSzPts val="1800"/>
              <a:buAutoNum type="arabicPeriod"/>
            </a:pPr>
            <a:r>
              <a:rPr lang="en-GB"/>
              <a:t>What is Sensors?</a:t>
            </a:r>
            <a:endParaRPr/>
          </a:p>
          <a:p>
            <a:pPr indent="-342900" lvl="0" marL="457200" rtl="0" algn="l">
              <a:spcBef>
                <a:spcPts val="0"/>
              </a:spcBef>
              <a:spcAft>
                <a:spcPts val="0"/>
              </a:spcAft>
              <a:buSzPts val="1800"/>
              <a:buAutoNum type="arabicPeriod"/>
            </a:pPr>
            <a:r>
              <a:rPr lang="en-GB"/>
              <a:t>Getting Sensors Data with Python Raspberry Pi + Visualization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Intro</a:t>
            </a:r>
            <a:endParaRPr/>
          </a:p>
        </p:txBody>
      </p:sp>
      <p:pic>
        <p:nvPicPr>
          <p:cNvPr descr="Tutorial video can be found here: &#10;https://www.youtube.com/watch?v=WJpT10yvP3s&amp;t=22s&#10;&#10;Ingredients:&#10;Arduino Uno&#10;Raspberry Pi with Screen (optional)&#10;Ultrasonic Sensor&#10;Servo&#10;A bunch of jumper wires&#10;USB Missile Launcher" id="75" name="Google Shape;75;p15" title="Arduino Missile Defense Radar System in ACTION">
            <a:hlinkClick r:id="rId3"/>
          </p:cNvPr>
          <p:cNvPicPr preferRelativeResize="0"/>
          <p:nvPr/>
        </p:nvPicPr>
        <p:blipFill>
          <a:blip r:embed="rId4">
            <a:alphaModFix/>
          </a:blip>
          <a:stretch>
            <a:fillRect/>
          </a:stretch>
        </p:blipFill>
        <p:spPr>
          <a:xfrm>
            <a:off x="2066248" y="618275"/>
            <a:ext cx="4945050" cy="3708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
                                        </p:tgtEl>
                                        <p:attrNameLst>
                                          <p:attrName>style.visibility</p:attrName>
                                        </p:attrNameLst>
                                      </p:cBhvr>
                                      <p:to>
                                        <p:strVal val="visible"/>
                                      </p:to>
                                    </p:set>
                                    <p:animEffect filter="fade" transition="in">
                                      <p:cBhvr>
                                        <p:cTn dur="1000"/>
                                        <p:tgtEl>
                                          <p:spTgt spid="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Intro</a:t>
            </a:r>
            <a:endParaRPr/>
          </a:p>
        </p:txBody>
      </p:sp>
      <p:pic>
        <p:nvPicPr>
          <p:cNvPr descr="visit us on our new web site : www.arduinoprojectgenius.com&#10;visit us on our facebook page :https://www.facebook.com/Arduino.Project.Genius&#10;&#10;&#10;arduino, element14, blum, electronics, blink, led, program, computer, USB, download, driver, install, sensors, analog, digital, uno, USB, Arduino Uno, serial communication, microcontroller, ATMEL, ATMEGA328, I\/O, pulse width modulation, analog input, LED MOSFIT, peltier, resistors, IED, 3D printers, arduino, micro, controller, microcontroller, servo, motor, hobby, adafruit, spark, fun, flexiforce, sensor, how, to, howto, tutorial, so, Accelerometer, ESC, iPhone, Degree, multicopter, MacBook, TouchOSC, arduino, xbee, X525, wireless, Uno, Imovie, quadcopter, Development, Code, LiPo, Outrunner, processing, Apple Inc Organization, Project, multiwii, arducopter, iOS, IPhone 4 (Mobile Phone), testing, softwareserial, servo.h, wifi, adruino, arduino download, arduino ide, arduino interrupt, arduino project, arduino project ideas, arduino projects, arduino projects for beginners, arduino pwm, arduino quadcopter, arduino reference, arduino simulator, arduino spi, arduino timer, arduino.cc, ardunio, atmega, atmega168, atmega328, atmega328p, atmega8, audrino, best arduino projects, cool arduino projects, ds18b20 arduino, microcontroller, what is arduino, xbee, tutorial arduino, arduino led, arduino robot, arduino project, arduino uno, arduino motor, arduino lcd" id="81" name="Google Shape;81;p16" title="Arduino Project Parking sensor ultrasonic + HC SR04">
            <a:hlinkClick r:id="rId3"/>
          </p:cNvPr>
          <p:cNvPicPr preferRelativeResize="0"/>
          <p:nvPr/>
        </p:nvPicPr>
        <p:blipFill>
          <a:blip r:embed="rId4">
            <a:alphaModFix/>
          </a:blip>
          <a:stretch>
            <a:fillRect/>
          </a:stretch>
        </p:blipFill>
        <p:spPr>
          <a:xfrm>
            <a:off x="1733723" y="639500"/>
            <a:ext cx="5092153" cy="38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1000"/>
                                        <p:tgtEl>
                                          <p:spTgt spid="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Intro</a:t>
            </a:r>
            <a:endParaRPr/>
          </a:p>
        </p:txBody>
      </p:sp>
      <p:pic>
        <p:nvPicPr>
          <p:cNvPr descr="What is a Raspberry Pi? Learn about all the parts and capabilities of the world's most popular tiny computer. https://fireship.io/tags/rpi&#10;&#10;https://www.raspberrypi.org/&#10;&#10;#raspberrypi #learntocode #100SecondsOfCode&#10;&#10;Install the quiz app 🤓&#10;&#10;iOS https://itunes.apple.com/us/app/fireship/id1462592372?mt=8&#10;Android https://play.google.com/store/apps/details?id=io.fireship.quizapp&#10;&#10;Upgrade to Fireship PRO at https://fireship.io/pro&#10;Use code lORhwXd2 for 25% off your first payment. &#10;&#10;My VS Code Theme&#10;&#10;- Atom One Dark &#10;- vscode-icons&#10;- Fira Code Font" id="87" name="Google Shape;87;p17" title="Raspberry Pi Explained in 100 Seconds">
            <a:hlinkClick r:id="rId3"/>
          </p:cNvPr>
          <p:cNvPicPr preferRelativeResize="0"/>
          <p:nvPr/>
        </p:nvPicPr>
        <p:blipFill>
          <a:blip r:embed="rId4">
            <a:alphaModFix/>
          </a:blip>
          <a:stretch>
            <a:fillRect/>
          </a:stretch>
        </p:blipFill>
        <p:spPr>
          <a:xfrm>
            <a:off x="2021648" y="498000"/>
            <a:ext cx="5100700" cy="3825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1000"/>
                                        <p:tgtEl>
                                          <p:spTgt spid="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112500"/>
            <a:ext cx="8520600" cy="57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Setup Raspberry Pi</a:t>
            </a:r>
            <a:endParaRPr/>
          </a:p>
        </p:txBody>
      </p:sp>
      <p:pic>
        <p:nvPicPr>
          <p:cNvPr id="93" name="Google Shape;93;p18"/>
          <p:cNvPicPr preferRelativeResize="0"/>
          <p:nvPr/>
        </p:nvPicPr>
        <p:blipFill>
          <a:blip r:embed="rId3">
            <a:alphaModFix/>
          </a:blip>
          <a:stretch>
            <a:fillRect/>
          </a:stretch>
        </p:blipFill>
        <p:spPr>
          <a:xfrm>
            <a:off x="4889183" y="445025"/>
            <a:ext cx="2553107" cy="3820977"/>
          </a:xfrm>
          <a:prstGeom prst="rect">
            <a:avLst/>
          </a:prstGeom>
          <a:noFill/>
          <a:ln>
            <a:noFill/>
          </a:ln>
        </p:spPr>
      </p:pic>
      <p:pic>
        <p:nvPicPr>
          <p:cNvPr id="94" name="Google Shape;94;p18"/>
          <p:cNvPicPr preferRelativeResize="0"/>
          <p:nvPr/>
        </p:nvPicPr>
        <p:blipFill>
          <a:blip r:embed="rId4">
            <a:alphaModFix/>
          </a:blip>
          <a:stretch>
            <a:fillRect/>
          </a:stretch>
        </p:blipFill>
        <p:spPr>
          <a:xfrm>
            <a:off x="1174833" y="873263"/>
            <a:ext cx="3038424" cy="337759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SSH</a:t>
            </a:r>
            <a:endParaRPr/>
          </a:p>
        </p:txBody>
      </p:sp>
      <p:pic>
        <p:nvPicPr>
          <p:cNvPr id="100" name="Google Shape;100;p19"/>
          <p:cNvPicPr preferRelativeResize="0"/>
          <p:nvPr/>
        </p:nvPicPr>
        <p:blipFill>
          <a:blip r:embed="rId3">
            <a:alphaModFix/>
          </a:blip>
          <a:stretch>
            <a:fillRect/>
          </a:stretch>
        </p:blipFill>
        <p:spPr>
          <a:xfrm>
            <a:off x="269200" y="1580876"/>
            <a:ext cx="3417475" cy="2126400"/>
          </a:xfrm>
          <a:prstGeom prst="rect">
            <a:avLst/>
          </a:prstGeom>
          <a:noFill/>
          <a:ln>
            <a:noFill/>
          </a:ln>
        </p:spPr>
      </p:pic>
      <p:pic>
        <p:nvPicPr>
          <p:cNvPr id="101" name="Google Shape;101;p19"/>
          <p:cNvPicPr preferRelativeResize="0"/>
          <p:nvPr/>
        </p:nvPicPr>
        <p:blipFill>
          <a:blip r:embed="rId4">
            <a:alphaModFix/>
          </a:blip>
          <a:stretch>
            <a:fillRect/>
          </a:stretch>
        </p:blipFill>
        <p:spPr>
          <a:xfrm>
            <a:off x="3815125" y="1676950"/>
            <a:ext cx="5235976" cy="1662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99825"/>
            <a:ext cx="8520600" cy="572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Wiring Diagram</a:t>
            </a:r>
            <a:endParaRPr/>
          </a:p>
        </p:txBody>
      </p:sp>
      <p:pic>
        <p:nvPicPr>
          <p:cNvPr id="107" name="Google Shape;107;p20"/>
          <p:cNvPicPr preferRelativeResize="0"/>
          <p:nvPr/>
        </p:nvPicPr>
        <p:blipFill>
          <a:blip r:embed="rId3">
            <a:alphaModFix/>
          </a:blip>
          <a:stretch>
            <a:fillRect/>
          </a:stretch>
        </p:blipFill>
        <p:spPr>
          <a:xfrm>
            <a:off x="5250008" y="131575"/>
            <a:ext cx="3264844" cy="4002789"/>
          </a:xfrm>
          <a:prstGeom prst="rect">
            <a:avLst/>
          </a:prstGeom>
          <a:noFill/>
          <a:ln>
            <a:noFill/>
          </a:ln>
        </p:spPr>
      </p:pic>
      <p:pic>
        <p:nvPicPr>
          <p:cNvPr id="108" name="Google Shape;108;p20"/>
          <p:cNvPicPr preferRelativeResize="0"/>
          <p:nvPr/>
        </p:nvPicPr>
        <p:blipFill>
          <a:blip r:embed="rId4">
            <a:alphaModFix/>
          </a:blip>
          <a:stretch>
            <a:fillRect/>
          </a:stretch>
        </p:blipFill>
        <p:spPr>
          <a:xfrm>
            <a:off x="145325" y="1001800"/>
            <a:ext cx="4945206" cy="32508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What is Sensors?</a:t>
            </a:r>
            <a:endParaRPr/>
          </a:p>
        </p:txBody>
      </p:sp>
      <p:pic>
        <p:nvPicPr>
          <p:cNvPr id="114" name="Google Shape;114;p21"/>
          <p:cNvPicPr preferRelativeResize="0"/>
          <p:nvPr/>
        </p:nvPicPr>
        <p:blipFill>
          <a:blip r:embed="rId3">
            <a:alphaModFix/>
          </a:blip>
          <a:stretch>
            <a:fillRect/>
          </a:stretch>
        </p:blipFill>
        <p:spPr>
          <a:xfrm>
            <a:off x="0" y="1283313"/>
            <a:ext cx="4581101" cy="2576875"/>
          </a:xfrm>
          <a:prstGeom prst="rect">
            <a:avLst/>
          </a:prstGeom>
          <a:noFill/>
          <a:ln>
            <a:noFill/>
          </a:ln>
        </p:spPr>
      </p:pic>
      <p:pic>
        <p:nvPicPr>
          <p:cNvPr id="115" name="Google Shape;115;p21"/>
          <p:cNvPicPr preferRelativeResize="0"/>
          <p:nvPr/>
        </p:nvPicPr>
        <p:blipFill>
          <a:blip r:embed="rId4">
            <a:alphaModFix/>
          </a:blip>
          <a:stretch>
            <a:fillRect/>
          </a:stretch>
        </p:blipFill>
        <p:spPr>
          <a:xfrm>
            <a:off x="4892801" y="1363700"/>
            <a:ext cx="4105702" cy="230945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What is Transducers?</a:t>
            </a:r>
            <a:endParaRPr/>
          </a:p>
        </p:txBody>
      </p:sp>
      <p:pic>
        <p:nvPicPr>
          <p:cNvPr id="121" name="Google Shape;121;p22"/>
          <p:cNvPicPr preferRelativeResize="0"/>
          <p:nvPr/>
        </p:nvPicPr>
        <p:blipFill>
          <a:blip r:embed="rId3">
            <a:alphaModFix/>
          </a:blip>
          <a:stretch>
            <a:fillRect/>
          </a:stretch>
        </p:blipFill>
        <p:spPr>
          <a:xfrm>
            <a:off x="478325" y="1169350"/>
            <a:ext cx="4999050" cy="3161900"/>
          </a:xfrm>
          <a:prstGeom prst="rect">
            <a:avLst/>
          </a:prstGeom>
          <a:noFill/>
          <a:ln>
            <a:noFill/>
          </a:ln>
        </p:spPr>
      </p:pic>
      <p:graphicFrame>
        <p:nvGraphicFramePr>
          <p:cNvPr id="122" name="Google Shape;122;p22"/>
          <p:cNvGraphicFramePr/>
          <p:nvPr/>
        </p:nvGraphicFramePr>
        <p:xfrm>
          <a:off x="5766075" y="1245025"/>
          <a:ext cx="3000000" cy="3000000"/>
        </p:xfrm>
        <a:graphic>
          <a:graphicData uri="http://schemas.openxmlformats.org/drawingml/2006/table">
            <a:tbl>
              <a:tblPr>
                <a:noFill/>
                <a:tableStyleId>{AB8AF2BD-44C1-466E-A864-9B6824D000DC}</a:tableStyleId>
              </a:tblPr>
              <a:tblGrid>
                <a:gridCol w="1638025"/>
                <a:gridCol w="1638025"/>
              </a:tblGrid>
              <a:tr h="381000">
                <a:tc>
                  <a:txBody>
                    <a:bodyPr/>
                    <a:lstStyle/>
                    <a:p>
                      <a:pPr indent="0" lvl="0" marL="0" rtl="0" algn="l">
                        <a:spcBef>
                          <a:spcPts val="0"/>
                        </a:spcBef>
                        <a:spcAft>
                          <a:spcPts val="0"/>
                        </a:spcAft>
                        <a:buNone/>
                      </a:pPr>
                      <a:r>
                        <a:rPr lang="en-GB"/>
                        <a:t>LDR ( Light Dependent Resistor )</a:t>
                      </a:r>
                      <a:endParaRPr/>
                    </a:p>
                  </a:txBody>
                  <a:tcPr marT="91425" marB="91425" marR="91425" marL="91425"/>
                </a:tc>
                <a:tc>
                  <a:txBody>
                    <a:bodyPr/>
                    <a:lstStyle/>
                    <a:p>
                      <a:pPr indent="0" lvl="0" marL="0" rtl="0" algn="l">
                        <a:spcBef>
                          <a:spcPts val="0"/>
                        </a:spcBef>
                        <a:spcAft>
                          <a:spcPts val="0"/>
                        </a:spcAft>
                        <a:buNone/>
                      </a:pPr>
                      <a:r>
                        <a:rPr lang="en-GB"/>
                        <a:t>M</a:t>
                      </a:r>
                      <a:r>
                        <a:rPr lang="en-GB"/>
                        <a:t>engubah energi cahaya menjadi hambatan</a:t>
                      </a:r>
                      <a:endParaRPr/>
                    </a:p>
                  </a:txBody>
                  <a:tcPr marT="91425" marB="91425" marR="91425" marL="91425"/>
                </a:tc>
              </a:tr>
              <a:tr h="381000">
                <a:tc>
                  <a:txBody>
                    <a:bodyPr/>
                    <a:lstStyle/>
                    <a:p>
                      <a:pPr indent="0" lvl="0" marL="0" rtl="0" algn="l">
                        <a:spcBef>
                          <a:spcPts val="0"/>
                        </a:spcBef>
                        <a:spcAft>
                          <a:spcPts val="0"/>
                        </a:spcAft>
                        <a:buNone/>
                      </a:pPr>
                      <a:r>
                        <a:rPr lang="en-GB"/>
                        <a:t>Potentiometer</a:t>
                      </a:r>
                      <a:endParaRPr/>
                    </a:p>
                  </a:txBody>
                  <a:tcPr marT="91425" marB="91425" marR="91425" marL="91425"/>
                </a:tc>
                <a:tc>
                  <a:txBody>
                    <a:bodyPr/>
                    <a:lstStyle/>
                    <a:p>
                      <a:pPr indent="0" lvl="0" marL="0" rtl="0" algn="l">
                        <a:spcBef>
                          <a:spcPts val="0"/>
                        </a:spcBef>
                        <a:spcAft>
                          <a:spcPts val="0"/>
                        </a:spcAft>
                        <a:buNone/>
                      </a:pPr>
                      <a:r>
                        <a:rPr lang="en-GB"/>
                        <a:t>Mengubah posisi menjadi hambatan</a:t>
                      </a:r>
                      <a:endParaRPr/>
                    </a:p>
                  </a:txBody>
                  <a:tcPr marT="91425" marB="91425" marR="91425" marL="91425"/>
                </a:tc>
              </a:tr>
              <a:tr h="381000">
                <a:tc>
                  <a:txBody>
                    <a:bodyPr/>
                    <a:lstStyle/>
                    <a:p>
                      <a:pPr indent="0" lvl="0" marL="0" rtl="0" algn="l">
                        <a:spcBef>
                          <a:spcPts val="0"/>
                        </a:spcBef>
                        <a:spcAft>
                          <a:spcPts val="0"/>
                        </a:spcAft>
                        <a:buNone/>
                      </a:pPr>
                      <a:r>
                        <a:rPr lang="en-GB"/>
                        <a:t>Microphone</a:t>
                      </a:r>
                      <a:endParaRPr/>
                    </a:p>
                  </a:txBody>
                  <a:tcPr marT="91425" marB="91425" marR="91425" marL="91425"/>
                </a:tc>
                <a:tc>
                  <a:txBody>
                    <a:bodyPr/>
                    <a:lstStyle/>
                    <a:p>
                      <a:pPr indent="0" lvl="0" marL="0" rtl="0" algn="l">
                        <a:spcBef>
                          <a:spcPts val="0"/>
                        </a:spcBef>
                        <a:spcAft>
                          <a:spcPts val="0"/>
                        </a:spcAft>
                        <a:buNone/>
                      </a:pPr>
                      <a:r>
                        <a:rPr lang="en-GB"/>
                        <a:t>Mengubah Suara Menjadi Listrik</a:t>
                      </a:r>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Data sensor + visualization</a:t>
            </a:r>
            <a:endParaRPr/>
          </a:p>
        </p:txBody>
      </p:sp>
      <p:pic>
        <p:nvPicPr>
          <p:cNvPr id="128" name="Google Shape;128;p23"/>
          <p:cNvPicPr preferRelativeResize="0"/>
          <p:nvPr/>
        </p:nvPicPr>
        <p:blipFill>
          <a:blip r:embed="rId3">
            <a:alphaModFix/>
          </a:blip>
          <a:stretch>
            <a:fillRect/>
          </a:stretch>
        </p:blipFill>
        <p:spPr>
          <a:xfrm>
            <a:off x="4365633" y="1150438"/>
            <a:ext cx="3934538" cy="3136087"/>
          </a:xfrm>
          <a:prstGeom prst="rect">
            <a:avLst/>
          </a:prstGeom>
          <a:noFill/>
          <a:ln>
            <a:noFill/>
          </a:ln>
        </p:spPr>
      </p:pic>
      <p:pic>
        <p:nvPicPr>
          <p:cNvPr id="129" name="Google Shape;129;p23"/>
          <p:cNvPicPr preferRelativeResize="0"/>
          <p:nvPr/>
        </p:nvPicPr>
        <p:blipFill>
          <a:blip r:embed="rId4">
            <a:alphaModFix/>
          </a:blip>
          <a:stretch>
            <a:fillRect/>
          </a:stretch>
        </p:blipFill>
        <p:spPr>
          <a:xfrm>
            <a:off x="1305625" y="1170125"/>
            <a:ext cx="2541868" cy="3116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Challenge! </a:t>
            </a:r>
            <a:endParaRPr/>
          </a:p>
        </p:txBody>
      </p:sp>
      <p:sp>
        <p:nvSpPr>
          <p:cNvPr id="135" name="Google Shape;135;p24"/>
          <p:cNvSpPr txBox="1"/>
          <p:nvPr/>
        </p:nvSpPr>
        <p:spPr>
          <a:xfrm>
            <a:off x="417425" y="1533525"/>
            <a:ext cx="8223000" cy="1503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GB" sz="1700">
                <a:solidFill>
                  <a:srgbClr val="333333"/>
                </a:solidFill>
              </a:rPr>
              <a:t>Menggunakan sensor ultrasonic dari kit Raspberry Pi. Kemudian:</a:t>
            </a:r>
            <a:endParaRPr sz="1700">
              <a:solidFill>
                <a:srgbClr val="333333"/>
              </a:solidFill>
            </a:endParaRPr>
          </a:p>
          <a:p>
            <a:pPr indent="-336550" lvl="0" marL="457200" rtl="0" algn="just">
              <a:lnSpc>
                <a:spcPct val="115000"/>
              </a:lnSpc>
              <a:spcBef>
                <a:spcPts val="1200"/>
              </a:spcBef>
              <a:spcAft>
                <a:spcPts val="0"/>
              </a:spcAft>
              <a:buClr>
                <a:srgbClr val="333333"/>
              </a:buClr>
              <a:buSzPts val="1700"/>
              <a:buAutoNum type="arabicPeriod"/>
            </a:pPr>
            <a:r>
              <a:rPr lang="en-GB" sz="1700">
                <a:solidFill>
                  <a:srgbClr val="333333"/>
                </a:solidFill>
              </a:rPr>
              <a:t>Generate data sensor menggunakan script python</a:t>
            </a:r>
            <a:endParaRPr sz="1700">
              <a:solidFill>
                <a:srgbClr val="333333"/>
              </a:solidFill>
            </a:endParaRPr>
          </a:p>
          <a:p>
            <a:pPr indent="-336550" lvl="0" marL="457200" rtl="0" algn="just">
              <a:lnSpc>
                <a:spcPct val="115000"/>
              </a:lnSpc>
              <a:spcBef>
                <a:spcPts val="0"/>
              </a:spcBef>
              <a:spcAft>
                <a:spcPts val="0"/>
              </a:spcAft>
              <a:buClr>
                <a:srgbClr val="333333"/>
              </a:buClr>
              <a:buSzPts val="1700"/>
              <a:buAutoNum type="arabicPeriod"/>
            </a:pPr>
            <a:r>
              <a:rPr lang="en-GB" sz="1700">
                <a:solidFill>
                  <a:srgbClr val="333333"/>
                </a:solidFill>
              </a:rPr>
              <a:t>Buatlah sebuah logic sederhana menggunakan script python</a:t>
            </a:r>
            <a:endParaRPr sz="1700">
              <a:solidFill>
                <a:srgbClr val="333333"/>
              </a:solidFill>
            </a:endParaRPr>
          </a:p>
          <a:p>
            <a:pPr indent="-336550" lvl="0" marL="457200" rtl="0" algn="just">
              <a:lnSpc>
                <a:spcPct val="115000"/>
              </a:lnSpc>
              <a:spcBef>
                <a:spcPts val="0"/>
              </a:spcBef>
              <a:spcAft>
                <a:spcPts val="0"/>
              </a:spcAft>
              <a:buClr>
                <a:srgbClr val="333333"/>
              </a:buClr>
              <a:buSzPts val="1700"/>
              <a:buAutoNum type="arabicPeriod"/>
            </a:pPr>
            <a:r>
              <a:rPr lang="en-GB" sz="1700">
                <a:solidFill>
                  <a:srgbClr val="333333"/>
                </a:solidFill>
              </a:rPr>
              <a:t>(Optional) Visualisasikan data tersebut menggunakan matplotlib</a:t>
            </a:r>
            <a:endParaRPr sz="1700">
              <a:solidFill>
                <a:srgbClr val="333333"/>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